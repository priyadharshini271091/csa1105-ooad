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457200"/>
            <a:ext cx="1828800" cy="1828800"/>
          </a:xfrm>
          <a:prstGeom prst="ellipse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1554480"/>
            <a:ext cx="1234440" cy="1234440"/>
          </a:xfrm>
          <a:prstGeom prst="ellipse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3017520"/>
            <a:ext cx="2057400" cy="2057400"/>
          </a:xfrm>
          <a:prstGeom prst="ellipse">
            <a:avLst/>
          </a:prstGeom>
          <a:solidFill>
            <a:srgbClr val="1C3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87000" y="4160520"/>
            <a:ext cx="960120" cy="960120"/>
          </a:xfrm>
          <a:prstGeom prst="ellipse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731520"/>
            <a:ext cx="2331720" cy="365760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777240"/>
            <a:ext cx="2221992" cy="2286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OOAD • TECHNICAL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777240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3300" b="1">
                <a:solidFill>
                  <a:srgbClr val="FFFFFF"/>
                </a:solidFill>
                <a:latin typeface="Aptos"/>
              </a:defRPr>
            </a:pPr>
            <a:r>
              <a:t>UML-Based Modeling for an</a:t>
            </a:r>
          </a:p>
          <a:p>
            <a:pPr algn="l">
              <a:spcAft>
                <a:spcPts val="500"/>
              </a:spcAft>
              <a:defRPr sz="3300" b="1">
                <a:solidFill>
                  <a:srgbClr val="FFFFFF"/>
                </a:solidFill>
                <a:latin typeface="Aptos"/>
              </a:defRPr>
            </a:pPr>
            <a:r>
              <a:t>Online Examination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694944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5BCFDC"/>
                </a:solidFill>
                <a:latin typeface="Aptos"/>
              </a:defRPr>
            </a:pPr>
            <a:r>
              <a:t>Use Case, Class, and Activity Diagrams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6766560" cy="6427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Priyadharshini M</a:t>
            </a:r>
            <a:endParaRPr dirty="0"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Register Number:</a:t>
            </a:r>
            <a:r>
              <a:rPr lang="en-IN" dirty="0"/>
              <a:t>192521051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6126480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C8D3E6"/>
                </a:solidFill>
                <a:latin typeface="Aptos"/>
              </a:defRPr>
            </a:pPr>
            <a:r>
              <a:t>Object Oriented Analysis and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21E3A"/>
                </a:solidFill>
                <a:latin typeface="Aptos"/>
              </a:defRPr>
            </a:pPr>
            <a:r>
              <a:t>1. Introduction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97280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Why model an online examination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18288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01368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System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85416"/>
            <a:ext cx="3154680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A platform where students take exams online and instructors manage questions, exams, and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64008" cy="182880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801368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Current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85416"/>
            <a:ext cx="3154680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Manual exams take time; marking can be slow; unclear requirements may cause development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64008" cy="1828800"/>
          </a:xfrm>
          <a:prstGeom prst="rect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801368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185416"/>
            <a:ext cx="3154680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Use UML diagrams to visualize users, system structure, and exam workflow before coding.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21E3A"/>
                </a:solidFill>
                <a:latin typeface="Aptos"/>
              </a:defRPr>
            </a:pPr>
            <a:r>
              <a:t>Presentation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05840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2D41"/>
                </a:solidFill>
                <a:latin typeface="Aptos"/>
              </a:defRPr>
            </a:pPr>
            <a:r>
              <a:t>•  Identify system users and requirements.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2D41"/>
                </a:solidFill>
                <a:latin typeface="Aptos"/>
              </a:defRPr>
            </a:pPr>
            <a:r>
              <a:t>•  Represent structure and behavior using three UML diagrams.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2D41"/>
                </a:solidFill>
                <a:latin typeface="Aptos"/>
              </a:defRPr>
            </a:pPr>
            <a:r>
              <a:t>•  Explain how modeling improves communication and maintainability.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21E3A"/>
                </a:solidFill>
                <a:latin typeface="Aptos"/>
              </a:defRPr>
            </a:pPr>
            <a:r>
              <a:t>2. OOAD, UML &amp;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97280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From requirements to a visual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64008" cy="15087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55648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Object-Oriented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39696"/>
            <a:ext cx="3108960" cy="941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D41"/>
                </a:solidFill>
                <a:latin typeface="Aptos"/>
              </a:defRPr>
            </a:pPr>
            <a:r>
              <a:t>Identifies actors, requirements, objects, and expected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1508760"/>
          </a:xfrm>
          <a:prstGeom prst="rect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755648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Object-Oriented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39696"/>
            <a:ext cx="3108960" cy="941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D41"/>
                </a:solidFill>
                <a:latin typeface="Aptos"/>
              </a:defRPr>
            </a:pPr>
            <a:r>
              <a:t>Defines classes, responsibilities, and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45920"/>
            <a:ext cx="33832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45920"/>
            <a:ext cx="64008" cy="150876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5592" y="1755648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UML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139696"/>
            <a:ext cx="3108960" cy="941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D41"/>
                </a:solidFill>
                <a:latin typeface="Aptos"/>
              </a:defRPr>
            </a:pPr>
            <a:r>
              <a:t>A standard visual language for communicating system design.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48463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21E3A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4846320" cy="1645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Login for students and instructors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Create exams and manage questions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Attempt exams and submit answers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Calculate and publish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48463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21E3A"/>
                </a:solidFill>
                <a:latin typeface="Aptos"/>
              </a:defRPr>
            </a:pPr>
            <a:r>
              <a:t>Non-functional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69080"/>
            <a:ext cx="4937760" cy="1645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Security and access control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Reliable result storage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Usable interface and good response time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Maintainable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21E3A"/>
                </a:solidFill>
                <a:latin typeface="Aptos"/>
              </a:defRPr>
            </a:pPr>
            <a:r>
              <a:t>3. 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97280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Shows system users and the functions they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600200"/>
            <a:ext cx="6675120" cy="4526280"/>
          </a:xfrm>
          <a:prstGeom prst="rect">
            <a:avLst/>
          </a:prstGeom>
          <a:solidFill>
            <a:srgbClr val="FAFCFF"/>
          </a:solidFill>
          <a:ln w="19050"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0520" y="1673352"/>
            <a:ext cx="41148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21E3A"/>
                </a:solidFill>
                <a:latin typeface="Aptos"/>
              </a:defRPr>
            </a:pPr>
            <a:r>
              <a:t>ONLINE EXAMINATION SYSTEM</a:t>
            </a:r>
          </a:p>
        </p:txBody>
      </p:sp>
      <p:sp>
        <p:nvSpPr>
          <p:cNvPr id="8" name="Oval 7"/>
          <p:cNvSpPr/>
          <p:nvPr/>
        </p:nvSpPr>
        <p:spPr>
          <a:xfrm>
            <a:off x="1399031" y="2331720"/>
            <a:ext cx="219456" cy="219456"/>
          </a:xfrm>
          <a:prstGeom prst="ellipse">
            <a:avLst/>
          </a:prstGeom>
          <a:noFill/>
          <a:ln>
            <a:solidFill>
              <a:srgbClr val="12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508760" y="2551176"/>
            <a:ext cx="0" cy="420624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98448" y="2679191"/>
            <a:ext cx="420624" cy="0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325880" y="2971800"/>
            <a:ext cx="182880" cy="256032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08760" y="2971800"/>
            <a:ext cx="182879" cy="256032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39" y="3246120"/>
            <a:ext cx="10058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21E3A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4" name="Oval 13"/>
          <p:cNvSpPr/>
          <p:nvPr/>
        </p:nvSpPr>
        <p:spPr>
          <a:xfrm>
            <a:off x="1399031" y="4251960"/>
            <a:ext cx="219456" cy="219456"/>
          </a:xfrm>
          <a:prstGeom prst="ellipse">
            <a:avLst/>
          </a:prstGeom>
          <a:noFill/>
          <a:ln>
            <a:solidFill>
              <a:srgbClr val="12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508760" y="4471416"/>
            <a:ext cx="0" cy="420624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98448" y="4599432"/>
            <a:ext cx="420624" cy="0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25880" y="4892040"/>
            <a:ext cx="182880" cy="256032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08760" y="4892040"/>
            <a:ext cx="182879" cy="256032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39" y="5166360"/>
            <a:ext cx="10058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21E3A"/>
                </a:solidFill>
                <a:latin typeface="Aptos"/>
              </a:defRPr>
            </a:pPr>
            <a:r>
              <a:t>Instructor</a:t>
            </a:r>
          </a:p>
        </p:txBody>
      </p:sp>
      <p:sp>
        <p:nvSpPr>
          <p:cNvPr id="20" name="Oval 19"/>
          <p:cNvSpPr/>
          <p:nvPr/>
        </p:nvSpPr>
        <p:spPr>
          <a:xfrm>
            <a:off x="10085832" y="3291840"/>
            <a:ext cx="219456" cy="219456"/>
          </a:xfrm>
          <a:prstGeom prst="ellipse">
            <a:avLst/>
          </a:prstGeom>
          <a:noFill/>
          <a:ln>
            <a:solidFill>
              <a:srgbClr val="12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0195560" y="3511296"/>
            <a:ext cx="0" cy="420624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85248" y="3639312"/>
            <a:ext cx="420624" cy="0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012680" y="3931920"/>
            <a:ext cx="182880" cy="256032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95560" y="3931920"/>
            <a:ext cx="182880" cy="256032"/>
          </a:xfrm>
          <a:prstGeom prst="line">
            <a:avLst/>
          </a:prstGeom>
          <a:ln w="16510">
            <a:solidFill>
              <a:srgbClr val="121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92640" y="4206240"/>
            <a:ext cx="10058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21E3A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26" name="Oval 25"/>
          <p:cNvSpPr/>
          <p:nvPr/>
        </p:nvSpPr>
        <p:spPr>
          <a:xfrm>
            <a:off x="3429000" y="2240280"/>
            <a:ext cx="1417320" cy="530352"/>
          </a:xfrm>
          <a:prstGeom prst="ellipse">
            <a:avLst/>
          </a:prstGeom>
          <a:solidFill>
            <a:srgbClr val="E2EDFA"/>
          </a:solidFill>
          <a:ln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65576" y="2350008"/>
            <a:ext cx="1344168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1E3A"/>
                </a:solidFill>
                <a:latin typeface="Aptos"/>
              </a:defRPr>
            </a:pPr>
            <a:r>
              <a:t>Log in</a:t>
            </a:r>
          </a:p>
        </p:txBody>
      </p:sp>
      <p:sp>
        <p:nvSpPr>
          <p:cNvPr id="28" name="Oval 27"/>
          <p:cNvSpPr/>
          <p:nvPr/>
        </p:nvSpPr>
        <p:spPr>
          <a:xfrm>
            <a:off x="5257800" y="2240280"/>
            <a:ext cx="1508760" cy="530352"/>
          </a:xfrm>
          <a:prstGeom prst="ellipse">
            <a:avLst/>
          </a:prstGeom>
          <a:solidFill>
            <a:srgbClr val="E2EDFA"/>
          </a:solidFill>
          <a:ln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94376" y="2350008"/>
            <a:ext cx="1435607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1E3A"/>
                </a:solidFill>
                <a:latin typeface="Aptos"/>
              </a:defRPr>
            </a:pPr>
            <a:r>
              <a:t>Take exam</a:t>
            </a:r>
          </a:p>
        </p:txBody>
      </p:sp>
      <p:sp>
        <p:nvSpPr>
          <p:cNvPr id="30" name="Oval 29"/>
          <p:cNvSpPr/>
          <p:nvPr/>
        </p:nvSpPr>
        <p:spPr>
          <a:xfrm>
            <a:off x="7178040" y="2240280"/>
            <a:ext cx="1828800" cy="530352"/>
          </a:xfrm>
          <a:prstGeom prst="ellipse">
            <a:avLst/>
          </a:prstGeom>
          <a:solidFill>
            <a:srgbClr val="E2EDFA"/>
          </a:solidFill>
          <a:ln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14616" y="2350008"/>
            <a:ext cx="1755648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1E3A"/>
                </a:solidFill>
                <a:latin typeface="Aptos"/>
              </a:defRPr>
            </a:pPr>
            <a:r>
              <a:t>Submit answers</a:t>
            </a:r>
          </a:p>
        </p:txBody>
      </p:sp>
      <p:sp>
        <p:nvSpPr>
          <p:cNvPr id="32" name="Oval 31"/>
          <p:cNvSpPr/>
          <p:nvPr/>
        </p:nvSpPr>
        <p:spPr>
          <a:xfrm>
            <a:off x="3429000" y="3657600"/>
            <a:ext cx="1508760" cy="530352"/>
          </a:xfrm>
          <a:prstGeom prst="ellipse">
            <a:avLst/>
          </a:prstGeom>
          <a:solidFill>
            <a:srgbClr val="E2EDFA"/>
          </a:solidFill>
          <a:ln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65576" y="3767328"/>
            <a:ext cx="1435607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1E3A"/>
                </a:solidFill>
                <a:latin typeface="Aptos"/>
              </a:defRPr>
            </a:pPr>
            <a:r>
              <a:t>Create exam</a:t>
            </a:r>
          </a:p>
        </p:txBody>
      </p:sp>
      <p:sp>
        <p:nvSpPr>
          <p:cNvPr id="34" name="Oval 33"/>
          <p:cNvSpPr/>
          <p:nvPr/>
        </p:nvSpPr>
        <p:spPr>
          <a:xfrm>
            <a:off x="5257800" y="3657600"/>
            <a:ext cx="1828800" cy="530352"/>
          </a:xfrm>
          <a:prstGeom prst="ellipse">
            <a:avLst/>
          </a:prstGeom>
          <a:solidFill>
            <a:srgbClr val="E2EDFA"/>
          </a:solidFill>
          <a:ln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94376" y="3767328"/>
            <a:ext cx="1755648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1E3A"/>
                </a:solidFill>
                <a:latin typeface="Aptos"/>
              </a:defRPr>
            </a:pPr>
            <a:r>
              <a:t>Manage questions</a:t>
            </a:r>
          </a:p>
        </p:txBody>
      </p:sp>
      <p:sp>
        <p:nvSpPr>
          <p:cNvPr id="36" name="Oval 35"/>
          <p:cNvSpPr/>
          <p:nvPr/>
        </p:nvSpPr>
        <p:spPr>
          <a:xfrm>
            <a:off x="7406640" y="3657600"/>
            <a:ext cx="1508760" cy="530352"/>
          </a:xfrm>
          <a:prstGeom prst="ellipse">
            <a:avLst/>
          </a:prstGeom>
          <a:solidFill>
            <a:srgbClr val="E2EDFA"/>
          </a:solidFill>
          <a:ln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43215" y="3767328"/>
            <a:ext cx="1435607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1E3A"/>
                </a:solidFill>
                <a:latin typeface="Aptos"/>
              </a:defRPr>
            </a:pPr>
            <a:r>
              <a:t>View results</a:t>
            </a:r>
          </a:p>
        </p:txBody>
      </p:sp>
      <p:sp>
        <p:nvSpPr>
          <p:cNvPr id="38" name="Oval 37"/>
          <p:cNvSpPr/>
          <p:nvPr/>
        </p:nvSpPr>
        <p:spPr>
          <a:xfrm>
            <a:off x="5257800" y="4892040"/>
            <a:ext cx="1828800" cy="530352"/>
          </a:xfrm>
          <a:prstGeom prst="ellipse">
            <a:avLst/>
          </a:prstGeom>
          <a:solidFill>
            <a:srgbClr val="E2EDFA"/>
          </a:solidFill>
          <a:ln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94376" y="5001768"/>
            <a:ext cx="1755648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1E3A"/>
                </a:solidFill>
                <a:latin typeface="Aptos"/>
              </a:defRPr>
            </a:pPr>
            <a:r>
              <a:t>Manage users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828800" y="2514600"/>
            <a:ext cx="1600200" cy="228600"/>
          </a:xfrm>
          <a:prstGeom prst="line">
            <a:avLst/>
          </a:prstGeom>
          <a:ln w="1016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828800" y="2514600"/>
            <a:ext cx="3429000" cy="320040"/>
          </a:xfrm>
          <a:prstGeom prst="line">
            <a:avLst/>
          </a:prstGeom>
          <a:ln w="1016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828800" y="2514600"/>
            <a:ext cx="5349240" cy="365760"/>
          </a:xfrm>
          <a:prstGeom prst="line">
            <a:avLst/>
          </a:prstGeom>
          <a:ln w="1016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828800" y="3931920"/>
            <a:ext cx="1600200" cy="640080"/>
          </a:xfrm>
          <a:prstGeom prst="line">
            <a:avLst/>
          </a:prstGeom>
          <a:ln w="1016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828800" y="3931920"/>
            <a:ext cx="3429000" cy="640080"/>
          </a:xfrm>
          <a:prstGeom prst="line">
            <a:avLst/>
          </a:prstGeom>
          <a:ln w="1016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828800" y="3931920"/>
            <a:ext cx="5577840" cy="640080"/>
          </a:xfrm>
          <a:prstGeom prst="line">
            <a:avLst/>
          </a:prstGeom>
          <a:ln w="1016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235440" y="3657600"/>
            <a:ext cx="822960" cy="274320"/>
          </a:xfrm>
          <a:prstGeom prst="line">
            <a:avLst/>
          </a:prstGeom>
          <a:ln w="1016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086600" y="3886200"/>
            <a:ext cx="2971800" cy="1234440"/>
          </a:xfrm>
          <a:prstGeom prst="line">
            <a:avLst/>
          </a:prstGeom>
          <a:ln w="1016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0080" y="6190488"/>
            <a:ext cx="10789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5F6C80"/>
                </a:solidFill>
                <a:latin typeface="Aptos"/>
              </a:defRPr>
            </a:pPr>
            <a:r>
              <a:t>Actors: Student, Instructor, Administrator | Ovals represent the services provided by the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21E3A"/>
                </a:solidFill>
                <a:latin typeface="Aptos"/>
              </a:defRPr>
            </a:pPr>
            <a:r>
              <a:t>4. 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97280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Shows classes, attributes, methods, and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2148840" cy="1508760"/>
          </a:xfrm>
          <a:prstGeom prst="rect">
            <a:avLst/>
          </a:prstGeom>
          <a:solidFill>
            <a:srgbClr val="FFFFFF"/>
          </a:solidFill>
          <a:ln w="1778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2148840" cy="34747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65376"/>
            <a:ext cx="20939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40280"/>
            <a:ext cx="1984248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studentId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name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takeExam()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viewResult()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28800"/>
            <a:ext cx="2148840" cy="1508760"/>
          </a:xfrm>
          <a:prstGeom prst="rect">
            <a:avLst/>
          </a:prstGeom>
          <a:solidFill>
            <a:srgbClr val="FFFFFF"/>
          </a:solidFill>
          <a:ln w="17780"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2148840" cy="347472"/>
          </a:xfrm>
          <a:prstGeom prst="rect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73551" y="1865376"/>
            <a:ext cx="20939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Instructor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5" y="2240280"/>
            <a:ext cx="1984248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instructorId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name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createExam()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addQuestion()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828800"/>
            <a:ext cx="2148840" cy="1508760"/>
          </a:xfrm>
          <a:prstGeom prst="rect">
            <a:avLst/>
          </a:prstGeom>
          <a:solidFill>
            <a:srgbClr val="FFFFFF"/>
          </a:solidFill>
          <a:ln w="17780">
            <a:solidFill>
              <a:srgbClr val="F5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06440" y="1828800"/>
            <a:ext cx="2148840" cy="347472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33872" y="1865376"/>
            <a:ext cx="20939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Exam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240280"/>
            <a:ext cx="1984248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examId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title, duration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start()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submit()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1828800"/>
            <a:ext cx="2423160" cy="1508760"/>
          </a:xfrm>
          <a:prstGeom prst="rect">
            <a:avLst/>
          </a:prstGeom>
          <a:solidFill>
            <a:srgbClr val="FFFFFF"/>
          </a:solidFill>
          <a:ln w="17780">
            <a:solidFill>
              <a:srgbClr val="309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760" y="1828800"/>
            <a:ext cx="2423160" cy="347472"/>
          </a:xfrm>
          <a:prstGeom prst="rect">
            <a:avLst/>
          </a:prstGeom>
          <a:solidFill>
            <a:srgbClr val="309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1865376"/>
            <a:ext cx="236829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240280"/>
            <a:ext cx="2258568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questionId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text, marks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checkAnswer()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4251960"/>
            <a:ext cx="2148840" cy="1325880"/>
          </a:xfrm>
          <a:prstGeom prst="rect">
            <a:avLst/>
          </a:prstGeom>
          <a:solidFill>
            <a:srgbClr val="FFFFFF"/>
          </a:solidFill>
          <a:ln w="1778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46120" y="4251960"/>
            <a:ext cx="2148840" cy="34747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73551" y="4288536"/>
            <a:ext cx="20939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5" y="4663440"/>
            <a:ext cx="198424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resultId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score, grade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calculateScore()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2148840" cy="1325880"/>
          </a:xfrm>
          <a:prstGeom prst="rect">
            <a:avLst/>
          </a:prstGeom>
          <a:solidFill>
            <a:srgbClr val="FFFFFF"/>
          </a:solidFill>
          <a:ln w="17780">
            <a:solidFill>
              <a:srgbClr val="275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2148840" cy="347472"/>
          </a:xfrm>
          <a:prstGeom prst="rect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4288536"/>
            <a:ext cx="2093976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4663440"/>
            <a:ext cx="198424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answerId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response</a:t>
            </a:r>
          </a:p>
          <a:p>
            <a:pPr algn="l">
              <a:spcAft>
                <a:spcPts val="500"/>
              </a:spcAft>
              <a:defRPr sz="900" b="0">
                <a:solidFill>
                  <a:srgbClr val="232D41"/>
                </a:solidFill>
                <a:latin typeface="Aptos"/>
              </a:defRPr>
            </a:pPr>
            <a:r>
              <a:t>+ saveAnswer()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34640" y="2560320"/>
            <a:ext cx="411480" cy="0"/>
          </a:xfrm>
          <a:prstGeom prst="line">
            <a:avLst/>
          </a:prstGeom>
          <a:ln w="1651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88920" y="2295144"/>
            <a:ext cx="5943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rPr dirty="0"/>
              <a:t>uses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2560320"/>
            <a:ext cx="411480" cy="0"/>
          </a:xfrm>
          <a:prstGeom prst="line">
            <a:avLst/>
          </a:prstGeom>
          <a:ln w="1651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21808" y="2286000"/>
            <a:ext cx="640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creates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55279" y="2560320"/>
            <a:ext cx="411481" cy="0"/>
          </a:xfrm>
          <a:prstGeom prst="line">
            <a:avLst/>
          </a:prstGeom>
          <a:ln w="1651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09560" y="2286000"/>
            <a:ext cx="6400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contains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737360" y="3337560"/>
            <a:ext cx="2011679" cy="914400"/>
          </a:xfrm>
          <a:prstGeom prst="line">
            <a:avLst/>
          </a:prstGeom>
          <a:ln w="1524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240280" y="3657600"/>
            <a:ext cx="7315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gets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58000" y="3337560"/>
            <a:ext cx="457200" cy="914400"/>
          </a:xfrm>
          <a:prstGeom prst="line">
            <a:avLst/>
          </a:prstGeom>
          <a:ln w="1524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69480" y="3657600"/>
            <a:ext cx="7315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F6C80"/>
                </a:solidFill>
                <a:latin typeface="Aptos"/>
              </a:defRPr>
            </a:pPr>
            <a:r>
              <a:t>stores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5F6C80"/>
                </a:solidFill>
                <a:latin typeface="Aptos"/>
              </a:defRPr>
            </a:pPr>
            <a:r>
              <a:t>Attributes store data; methods describe behavior; relationships show how objects collaborate.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21E3A"/>
                </a:solidFill>
                <a:latin typeface="Aptos"/>
              </a:defRPr>
            </a:pPr>
            <a:r>
              <a:t>5. Activity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97280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Workflow when a student takes an examination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08760"/>
            <a:ext cx="2971800" cy="411480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572768"/>
            <a:ext cx="288036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Open examination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03120"/>
            <a:ext cx="2971800" cy="411480"/>
          </a:xfrm>
          <a:prstGeom prst="roundRect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167127"/>
            <a:ext cx="288036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Log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97480"/>
            <a:ext cx="2971800" cy="411480"/>
          </a:xfrm>
          <a:prstGeom prst="roundRect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761488"/>
            <a:ext cx="288036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Select scheduled exam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291840"/>
            <a:ext cx="2971800" cy="411480"/>
          </a:xfrm>
          <a:prstGeom prst="roundRect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355848"/>
            <a:ext cx="288036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Answer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886200"/>
            <a:ext cx="2971800" cy="411480"/>
          </a:xfrm>
          <a:prstGeom prst="round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3950208"/>
            <a:ext cx="288036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Submit exam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480560"/>
            <a:ext cx="2971800" cy="411480"/>
          </a:xfrm>
          <a:prstGeom prst="roundRect">
            <a:avLst/>
          </a:prstGeom>
          <a:solidFill>
            <a:srgbClr val="309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4544568"/>
            <a:ext cx="288036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Evaluate answers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5074920"/>
            <a:ext cx="2971800" cy="411480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5138928"/>
            <a:ext cx="2880360" cy="30175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Save and display result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57900" y="1920240"/>
            <a:ext cx="0" cy="182880"/>
          </a:xfrm>
          <a:prstGeom prst="line">
            <a:avLst/>
          </a:prstGeom>
          <a:ln w="1778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57900" y="2514600"/>
            <a:ext cx="0" cy="182880"/>
          </a:xfrm>
          <a:prstGeom prst="line">
            <a:avLst/>
          </a:prstGeom>
          <a:ln w="1778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57900" y="3108960"/>
            <a:ext cx="0" cy="182880"/>
          </a:xfrm>
          <a:prstGeom prst="line">
            <a:avLst/>
          </a:prstGeom>
          <a:ln w="1778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57900" y="3703320"/>
            <a:ext cx="0" cy="182880"/>
          </a:xfrm>
          <a:prstGeom prst="line">
            <a:avLst/>
          </a:prstGeom>
          <a:ln w="1778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57900" y="4297680"/>
            <a:ext cx="0" cy="182880"/>
          </a:xfrm>
          <a:prstGeom prst="line">
            <a:avLst/>
          </a:prstGeom>
          <a:ln w="1778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57900" y="4892040"/>
            <a:ext cx="0" cy="182880"/>
          </a:xfrm>
          <a:prstGeom prst="line">
            <a:avLst/>
          </a:prstGeom>
          <a:ln w="17780">
            <a:solidFill>
              <a:srgbClr val="5F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2194560"/>
            <a:ext cx="2834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2194560"/>
            <a:ext cx="64008" cy="11887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2304288"/>
            <a:ext cx="2560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688336"/>
            <a:ext cx="2560320" cy="6217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D41"/>
                </a:solidFill>
                <a:latin typeface="Aptos"/>
              </a:defRPr>
            </a:pPr>
            <a:r>
              <a:t>Student login and exam answers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3657600"/>
            <a:ext cx="2834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12480" y="3657600"/>
            <a:ext cx="64008" cy="118872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77072" y="3767328"/>
            <a:ext cx="2560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4151376"/>
            <a:ext cx="2560320" cy="6217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D41"/>
                </a:solidFill>
                <a:latin typeface="Aptos"/>
              </a:defRPr>
            </a:pPr>
            <a:r>
              <a:t>Submission status and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21E3A"/>
                </a:solidFill>
                <a:latin typeface="Aptos"/>
              </a:defRPr>
            </a:pPr>
            <a:r>
              <a:t>6. Benefits &amp;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14400"/>
            <a:ext cx="1097280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8813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80"/>
                </a:solidFill>
                <a:latin typeface="Aptos"/>
              </a:defRPr>
            </a:pPr>
            <a:r>
              <a:t>How UML helps—and what still needs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64008" cy="15087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55648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Clear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39696"/>
            <a:ext cx="3154680" cy="941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D41"/>
                </a:solidFill>
                <a:latin typeface="Aptos"/>
              </a:defRPr>
            </a:pPr>
            <a:r>
              <a:t>Makes requirements and workflow easier to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1508760"/>
          </a:xfrm>
          <a:prstGeom prst="rect">
            <a:avLst/>
          </a:prstGeom>
          <a:solidFill>
            <a:srgbClr val="275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755648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Better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39696"/>
            <a:ext cx="3154680" cy="941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D41"/>
                </a:solidFill>
                <a:latin typeface="Aptos"/>
              </a:defRPr>
            </a:pPr>
            <a:r>
              <a:t>Gives users and developers a shared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459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45920"/>
            <a:ext cx="64008" cy="1508760"/>
          </a:xfrm>
          <a:prstGeom prst="rect">
            <a:avLst/>
          </a:prstGeom>
          <a:solidFill>
            <a:srgbClr val="F5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5592" y="1755648"/>
            <a:ext cx="3154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E3A"/>
                </a:solidFill>
                <a:latin typeface="Aptos"/>
              </a:defRPr>
            </a:pPr>
            <a:r>
              <a:t>Early issue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139696"/>
            <a:ext cx="3154680" cy="941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2D41"/>
                </a:solidFill>
                <a:latin typeface="Aptos"/>
              </a:defRPr>
            </a:pPr>
            <a:r>
              <a:t>Helps identify missing functions before coding.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7548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21E3A"/>
                </a:solidFill>
                <a:latin typeface="Aptos"/>
              </a:defRPr>
            </a:pPr>
            <a:r>
              <a:t>Important considerations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14800"/>
            <a:ext cx="10424160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Diagrams must be updated when requirements change.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Security, privacy, accessibility, and exam integrity require implementation and testing.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2D41"/>
                </a:solidFill>
                <a:latin typeface="Aptos"/>
              </a:defRPr>
            </a:pPr>
            <a:r>
              <a:t>•  Objective questions can be auto-marked; subjective answers may need instructor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104241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7. Conclusion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43000"/>
            <a:ext cx="1097280" cy="54864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241280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UML provides a clear visual plan for an Online Examination System. Use Case, Class, and Activity Diagrams describe the users, system structure, and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24128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BCFDC"/>
                </a:solidFill>
                <a:latin typeface="Aptos"/>
              </a:defRPr>
            </a:pPr>
            <a:r>
              <a:t>A well-prepared model improves communication and helps developers create software that is easier to test, maintain, and extend.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058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89120"/>
            <a:ext cx="1042416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• Object Management Group (OMG), UML Specification: https://www.omg.org/spec/UML/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• Booch, Rumbaugh &amp; Jacobson, The Unified Modeling Language User Guide.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• Sommerville, Software Engineering, 10th Edition.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• OOAD course material, CSA1105.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64008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599</Words>
  <Application>Microsoft Office PowerPoint</Application>
  <PresentationFormat>Widescreen</PresentationFormat>
  <Paragraphs>126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priya dharshini</cp:lastModifiedBy>
  <cp:revision>3</cp:revision>
  <dcterms:created xsi:type="dcterms:W3CDTF">2013-01-27T09:14:16Z</dcterms:created>
  <dcterms:modified xsi:type="dcterms:W3CDTF">2026-10-10T03:41:51Z</dcterms:modified>
  <cp:category/>
</cp:coreProperties>
</file>